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3600" cy="36004500"/>
  <p:notesSz cx="6669088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1340">
          <p15:clr>
            <a:srgbClr val="000000"/>
          </p15:clr>
        </p15:guide>
        <p15:guide id="2" pos="9072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hYHM3vu9eYD2mjVV/y2zSj4jnX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" d="100"/>
          <a:sy n="30" d="100"/>
        </p:scale>
        <p:origin x="750" y="-3570"/>
      </p:cViewPr>
      <p:guideLst>
        <p:guide orient="horz" pos="11340"/>
        <p:guide pos="90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889250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778250" y="0"/>
            <a:ext cx="2889250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846262" y="744537"/>
            <a:ext cx="2976562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66750" y="4714875"/>
            <a:ext cx="5335587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162"/>
            <a:ext cx="2889250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778250" y="9428162"/>
            <a:ext cx="2889250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/>
        </p:nvSpPr>
        <p:spPr>
          <a:xfrm>
            <a:off x="3778250" y="9428162"/>
            <a:ext cx="2889250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46263" y="744538"/>
            <a:ext cx="2976562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66750" y="4714875"/>
            <a:ext cx="5335587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2160950" y="11184815"/>
            <a:ext cx="24481701" cy="771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4320389" y="20402907"/>
            <a:ext cx="20162822" cy="920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ctr">
              <a:spcBef>
                <a:spcPts val="2580"/>
              </a:spcBef>
              <a:spcAft>
                <a:spcPts val="0"/>
              </a:spcAft>
              <a:buClr>
                <a:schemeClr val="dk1"/>
              </a:buClr>
              <a:buSzPts val="12900"/>
              <a:buFont typeface="Arial"/>
              <a:buNone/>
              <a:defRPr/>
            </a:lvl1pPr>
            <a:lvl2pPr lvl="1" algn="ctr"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Font typeface="Arial"/>
              <a:buNone/>
              <a:defRPr/>
            </a:lvl2pPr>
            <a:lvl3pPr lvl="2" algn="ctr">
              <a:spcBef>
                <a:spcPts val="1960"/>
              </a:spcBef>
              <a:spcAft>
                <a:spcPts val="0"/>
              </a:spcAft>
              <a:buClr>
                <a:schemeClr val="dk1"/>
              </a:buClr>
              <a:buSzPts val="9800"/>
              <a:buFont typeface="Arial"/>
              <a:buNone/>
              <a:defRPr/>
            </a:lvl3pPr>
            <a:lvl4pPr lvl="3" algn="ctr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None/>
              <a:defRPr/>
            </a:lvl4pPr>
            <a:lvl5pPr lvl="4" algn="ctr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None/>
              <a:defRPr/>
            </a:lvl5pPr>
            <a:lvl6pPr lvl="5" algn="ctr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None/>
              <a:defRPr/>
            </a:lvl6pPr>
            <a:lvl7pPr lvl="6" algn="ctr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None/>
              <a:defRPr/>
            </a:lvl7pPr>
            <a:lvl8pPr lvl="7" algn="ctr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None/>
              <a:defRPr/>
            </a:lvl8pPr>
            <a:lvl9pPr lvl="8" algn="ctr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14398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9840912" y="32788225"/>
            <a:ext cx="91217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206422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 rot="5400000">
            <a:off x="8763215" y="13561920"/>
            <a:ext cx="30721188" cy="648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 rot="5400000">
            <a:off x="-4271947" y="7153067"/>
            <a:ext cx="30721188" cy="19299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4398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9840912" y="32788225"/>
            <a:ext cx="91217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206422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439862" y="1441450"/>
            <a:ext cx="25923875" cy="600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 rot="5400000">
            <a:off x="2521744" y="7319168"/>
            <a:ext cx="23760112" cy="259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4398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9840912" y="32788225"/>
            <a:ext cx="91217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206422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5646255" y="25202883"/>
            <a:ext cx="17281556" cy="297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>
            <a:spLocks noGrp="1"/>
          </p:cNvSpPr>
          <p:nvPr>
            <p:ph type="pic" idx="2"/>
          </p:nvPr>
        </p:nvSpPr>
        <p:spPr>
          <a:xfrm>
            <a:off x="5646255" y="3216452"/>
            <a:ext cx="17281556" cy="21603234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5646255" y="28179002"/>
            <a:ext cx="17281556" cy="4224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marL="914400" lvl="1" indent="-228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2pPr>
            <a:lvl3pPr marL="1371600" lvl="2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3pPr>
            <a:lvl4pPr marL="1828800" lvl="3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4pPr>
            <a:lvl5pPr marL="2286000" lvl="4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5pPr>
            <a:lvl6pPr marL="2743200" lvl="5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6pPr>
            <a:lvl7pPr marL="3200400" lvl="6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7pPr>
            <a:lvl8pPr marL="3657600" lvl="7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8pPr>
            <a:lvl9pPr marL="4114800" lvl="8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4398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9840912" y="32788225"/>
            <a:ext cx="91217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206422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440634" y="1433985"/>
            <a:ext cx="9475862" cy="6100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1260798" y="1433985"/>
            <a:ext cx="16102169" cy="30727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73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–"/>
              <a:defRPr sz="2500"/>
            </a:lvl2pPr>
            <a:lvl3pPr marL="1371600" lvl="2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440634" y="7534429"/>
            <a:ext cx="9475862" cy="24627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marL="914400" lvl="1" indent="-228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2pPr>
            <a:lvl3pPr marL="1371600" lvl="2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3pPr>
            <a:lvl4pPr marL="1828800" lvl="3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4pPr>
            <a:lvl5pPr marL="2286000" lvl="4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5pPr>
            <a:lvl6pPr marL="2743200" lvl="5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6pPr>
            <a:lvl7pPr marL="3200400" lvl="6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7pPr>
            <a:lvl8pPr marL="3657600" lvl="7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8pPr>
            <a:lvl9pPr marL="4114800" lvl="8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14398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9840912" y="32788225"/>
            <a:ext cx="91217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ldNum" idx="12"/>
          </p:nvPr>
        </p:nvSpPr>
        <p:spPr>
          <a:xfrm>
            <a:off x="206422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dt" idx="10"/>
          </p:nvPr>
        </p:nvSpPr>
        <p:spPr>
          <a:xfrm>
            <a:off x="14398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ftr" idx="11"/>
          </p:nvPr>
        </p:nvSpPr>
        <p:spPr>
          <a:xfrm>
            <a:off x="9840912" y="32788225"/>
            <a:ext cx="91217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ldNum" idx="12"/>
          </p:nvPr>
        </p:nvSpPr>
        <p:spPr>
          <a:xfrm>
            <a:off x="206422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1439862" y="1441450"/>
            <a:ext cx="25923875" cy="600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dt" idx="10"/>
          </p:nvPr>
        </p:nvSpPr>
        <p:spPr>
          <a:xfrm>
            <a:off x="14398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ftr" idx="11"/>
          </p:nvPr>
        </p:nvSpPr>
        <p:spPr>
          <a:xfrm>
            <a:off x="9840912" y="32788225"/>
            <a:ext cx="91217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ldNum" idx="12"/>
          </p:nvPr>
        </p:nvSpPr>
        <p:spPr>
          <a:xfrm>
            <a:off x="206422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1440633" y="1441996"/>
            <a:ext cx="25922334" cy="6000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1440634" y="8059155"/>
            <a:ext cx="12725592" cy="335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b" anchorCtr="0">
            <a:noAutofit/>
          </a:bodyPr>
          <a:lstStyle>
            <a:lvl1pPr marL="457200" lvl="0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1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2"/>
          </p:nvPr>
        </p:nvSpPr>
        <p:spPr>
          <a:xfrm>
            <a:off x="1440634" y="11418471"/>
            <a:ext cx="12725592" cy="20743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3pPr>
            <a:lvl4pPr marL="1828800" lvl="3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/>
            </a:lvl4pPr>
            <a:lvl5pPr marL="2286000" lvl="4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5pPr>
            <a:lvl6pPr marL="2743200" lvl="5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6pPr>
            <a:lvl7pPr marL="3200400" lvl="6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7pPr>
            <a:lvl8pPr marL="3657600" lvl="7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8pPr>
            <a:lvl9pPr marL="4114800" lvl="8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3"/>
          </p:nvPr>
        </p:nvSpPr>
        <p:spPr>
          <a:xfrm>
            <a:off x="14631335" y="8059155"/>
            <a:ext cx="12731632" cy="335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b" anchorCtr="0">
            <a:noAutofit/>
          </a:bodyPr>
          <a:lstStyle>
            <a:lvl1pPr marL="457200" lvl="0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1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4"/>
          </p:nvPr>
        </p:nvSpPr>
        <p:spPr>
          <a:xfrm>
            <a:off x="14631335" y="11418471"/>
            <a:ext cx="12731632" cy="20743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3pPr>
            <a:lvl4pPr marL="1828800" lvl="3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/>
            </a:lvl4pPr>
            <a:lvl5pPr marL="2286000" lvl="4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5pPr>
            <a:lvl6pPr marL="2743200" lvl="5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6pPr>
            <a:lvl7pPr marL="3200400" lvl="6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7pPr>
            <a:lvl8pPr marL="3657600" lvl="7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8pPr>
            <a:lvl9pPr marL="4114800" lvl="8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4398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9840912" y="32788225"/>
            <a:ext cx="91217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206422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1439862" y="1441450"/>
            <a:ext cx="25923875" cy="600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>
            <a:off x="1439124" y="8400961"/>
            <a:ext cx="12890192" cy="23762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L="457200" lvl="0" indent="-3873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500"/>
            </a:lvl1pPr>
            <a:lvl2pPr marL="914400" lvl="1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2"/>
          </p:nvPr>
        </p:nvSpPr>
        <p:spPr>
          <a:xfrm>
            <a:off x="14474285" y="8400961"/>
            <a:ext cx="12890192" cy="23762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L="457200" lvl="0" indent="-38735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500"/>
            </a:lvl1pPr>
            <a:lvl2pPr marL="914400" lvl="1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4398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9840912" y="32788225"/>
            <a:ext cx="91217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206422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2275718" y="23136022"/>
            <a:ext cx="24483211" cy="7151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5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>
            <a:off x="2275718" y="15259788"/>
            <a:ext cx="24483211" cy="7876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4398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9840912" y="32788225"/>
            <a:ext cx="91217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206422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>
            <a:off x="1439862" y="1441450"/>
            <a:ext cx="25923875" cy="600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>
            <a:off x="1439862" y="8401050"/>
            <a:ext cx="25923875" cy="2376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4398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9840912" y="32788225"/>
            <a:ext cx="91217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206422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439862" y="1441450"/>
            <a:ext cx="25923875" cy="600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439862" y="8401050"/>
            <a:ext cx="25923875" cy="2376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L="457200" marR="0" lvl="0" indent="-1047750" algn="l" rtl="0">
              <a:spcBef>
                <a:spcPts val="2580"/>
              </a:spcBef>
              <a:spcAft>
                <a:spcPts val="0"/>
              </a:spcAft>
              <a:buClr>
                <a:schemeClr val="dk1"/>
              </a:buClr>
              <a:buSzPts val="12900"/>
              <a:buFont typeface="Arial"/>
              <a:buChar char="•"/>
              <a:defRPr sz="1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946150" algn="l" rtl="0"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Font typeface="Arial"/>
              <a:buChar char="–"/>
              <a:defRPr sz="1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850900" algn="l" rtl="0">
              <a:spcBef>
                <a:spcPts val="1960"/>
              </a:spcBef>
              <a:spcAft>
                <a:spcPts val="0"/>
              </a:spcAft>
              <a:buClr>
                <a:schemeClr val="dk1"/>
              </a:buClr>
              <a:buSzPts val="9800"/>
              <a:buFont typeface="Arial"/>
              <a:buChar char="•"/>
              <a:defRPr sz="9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742950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–"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742950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»"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742950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»"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742950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»"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742950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»"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742950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»"/>
              <a:defRPr sz="8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4398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9840912" y="32788225"/>
            <a:ext cx="91217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20642262" y="32788225"/>
            <a:ext cx="6721475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000" tIns="185000" rIns="370000" bIns="1850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  <a:defRPr sz="5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 descr="MODELO DE POSTER22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155237" cy="3405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 descr="rodape_ifto_pub_0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34051875"/>
            <a:ext cx="1440180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 descr="rodape_ifto_pub_0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333537" y="34051875"/>
            <a:ext cx="14470062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2211387" y="4497387"/>
            <a:ext cx="24219000" cy="281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25" tIns="45950" rIns="91925" bIns="459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Arial"/>
              <a:buNone/>
            </a:pPr>
            <a:r>
              <a:rPr lang="en-US" sz="5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TÍTULO  XXXXXXXXXXXXXXXXXXXXXXXXXXTÍTULOXXXXXXXXXXX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9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974725" y="6465887"/>
            <a:ext cx="25590500" cy="246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7050" rIns="90475" bIns="4705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</a:pPr>
            <a:r>
              <a:rPr lang="en-US" sz="2800" b="1" i="0" u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STINGUEL, R.J.; COELHO, P.M.; SALES, R.A.; SANTOS, E.J.; SILVA, H.P.F.</a:t>
            </a:r>
            <a:endParaRPr dirty="0"/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Verdana"/>
              <a:buNone/>
            </a:pPr>
            <a:r>
              <a:rPr lang="en-US" sz="2800" b="0" i="0" u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IFES – CAMPUS </a:t>
            </a:r>
            <a:r>
              <a:rPr lang="en-US" sz="2800" dirty="0">
                <a:latin typeface="Verdana"/>
                <a:ea typeface="Verdana"/>
                <a:cs typeface="Verdana"/>
                <a:sym typeface="Verdana"/>
              </a:rPr>
              <a:t>COLATINA</a:t>
            </a:r>
            <a:endParaRPr dirty="0"/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Verdana"/>
              <a:buNone/>
            </a:pPr>
            <a:r>
              <a:rPr lang="en-US" sz="2800" b="0" i="0" u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CURSO GRADUAÇÃO EM XXXXXXX</a:t>
            </a:r>
            <a:endParaRPr dirty="0"/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ricardostinghell@gmail.com, paulomoreira.agro@Hotmail.com, elio.agrônomo@gmail.com, rodrigo-ads15@Hotmail.com.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336800" y="9161462"/>
            <a:ext cx="11390312" cy="693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7050" rIns="90475" bIns="470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Verdana"/>
              <a:buNone/>
            </a:pPr>
            <a:r>
              <a:rPr lang="en-US" sz="3900" b="1" i="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INTRODUÇÃO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2414587" y="9888537"/>
            <a:ext cx="11042650" cy="847407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475" tIns="47050" rIns="90475" bIns="47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	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Melancia (</a:t>
            </a:r>
            <a:r>
              <a:rPr lang="en-US" sz="2500" b="0" i="1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Citrullus lanatus)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cucurbitácea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grande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importância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econômica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A China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destaca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-se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principal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produtor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mundial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tendo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atingido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2012, a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marca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70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milhões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toneladas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frutos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No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mesmo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Brasil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produção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dois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milhões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toneladas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ocupou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4ª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posição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ranking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mundial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Agrianual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2015).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Brasil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cultivo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melancia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notório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papel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social,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vez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é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responsável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pela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geração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um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grande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número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empregos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sobretudo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regiões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Sul, Nordeste,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Sudeste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Centro-Oeste do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Brasil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cultivada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comercialmente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pequenos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médios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produtores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principais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Estados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produtores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foram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Rio Grande do Sul, Bahia, Goiás e São Paulo, que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juntos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responderam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55 % da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produção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brasileira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(IBGE, 2012).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No Espírito Santo a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melancia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teve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seu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econômica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2002,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segundo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dados do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Incaper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Marilândia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iniciou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primeiros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plantios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1999, tendo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produtividade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média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entre 30 a 40 t/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há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Hoje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produtores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chegam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produzir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70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toneladas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hectare.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Atualmente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melancia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já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plantada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vários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municípios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região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noroeste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Espirito Santo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X</a:t>
            </a:r>
            <a:endParaRPr lang="en-US" sz="28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dirty="0"/>
          </a:p>
        </p:txBody>
      </p:sp>
      <p:sp>
        <p:nvSpPr>
          <p:cNvPr id="96" name="Google Shape;96;p1"/>
          <p:cNvSpPr txBox="1"/>
          <p:nvPr/>
        </p:nvSpPr>
        <p:spPr>
          <a:xfrm>
            <a:off x="2414587" y="25028525"/>
            <a:ext cx="11390400" cy="69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7050" rIns="90475" bIns="470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Verdana"/>
              <a:buNone/>
            </a:pPr>
            <a:r>
              <a:rPr lang="en-US" sz="3900" b="1" dirty="0">
                <a:latin typeface="Verdana"/>
                <a:ea typeface="Verdana"/>
                <a:sym typeface="Verdana"/>
              </a:rPr>
              <a:t>MATERIAIS E MÉTODOS</a:t>
            </a:r>
            <a:endParaRPr dirty="0"/>
          </a:p>
        </p:txBody>
      </p:sp>
      <p:sp>
        <p:nvSpPr>
          <p:cNvPr id="97" name="Google Shape;97;p1"/>
          <p:cNvSpPr txBox="1"/>
          <p:nvPr/>
        </p:nvSpPr>
        <p:spPr>
          <a:xfrm>
            <a:off x="2336800" y="25465087"/>
            <a:ext cx="11042650" cy="1382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7050" rIns="90475" bIns="470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5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O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deste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artigo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avaliar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importância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econômica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social da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cultura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melancia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agricultores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familiares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região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norte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noroeste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Estado do Espírito Santo, tanto no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aproveitamento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gleba de terra,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enquanto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formação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novas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lavouras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café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também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aproveitamento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diversificação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desta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cultura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até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2000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era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produzida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comercialmente</a:t>
            </a:r>
            <a:r>
              <a:rPr lang="en-US" sz="25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Espírito Santo.</a:t>
            </a:r>
            <a:endParaRPr sz="25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5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dirty="0">
                <a:solidFill>
                  <a:schemeClr val="dk1"/>
                </a:solidFill>
              </a:rPr>
              <a:t>	O </a:t>
            </a:r>
            <a:r>
              <a:rPr lang="en-US" sz="2500" dirty="0" err="1">
                <a:solidFill>
                  <a:schemeClr val="dk1"/>
                </a:solidFill>
              </a:rPr>
              <a:t>objetivo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deste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artigo</a:t>
            </a:r>
            <a:r>
              <a:rPr lang="en-US" sz="2500" dirty="0">
                <a:solidFill>
                  <a:schemeClr val="dk1"/>
                </a:solidFill>
              </a:rPr>
              <a:t> é </a:t>
            </a:r>
            <a:r>
              <a:rPr lang="en-US" sz="2500" dirty="0" err="1">
                <a:solidFill>
                  <a:schemeClr val="dk1"/>
                </a:solidFill>
              </a:rPr>
              <a:t>avaliar</a:t>
            </a:r>
            <a:r>
              <a:rPr lang="en-US" sz="2500" dirty="0">
                <a:solidFill>
                  <a:schemeClr val="dk1"/>
                </a:solidFill>
              </a:rPr>
              <a:t> a </a:t>
            </a:r>
            <a:r>
              <a:rPr lang="en-US" sz="2500" dirty="0" err="1">
                <a:solidFill>
                  <a:schemeClr val="dk1"/>
                </a:solidFill>
              </a:rPr>
              <a:t>importância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econômica</a:t>
            </a:r>
            <a:r>
              <a:rPr lang="en-US" sz="2500" dirty="0">
                <a:solidFill>
                  <a:schemeClr val="dk1"/>
                </a:solidFill>
              </a:rPr>
              <a:t> e social da </a:t>
            </a:r>
            <a:r>
              <a:rPr lang="en-US" sz="2500" dirty="0" err="1">
                <a:solidFill>
                  <a:schemeClr val="dk1"/>
                </a:solidFill>
              </a:rPr>
              <a:t>introdução</a:t>
            </a:r>
            <a:r>
              <a:rPr lang="en-US" sz="2500" dirty="0">
                <a:solidFill>
                  <a:schemeClr val="dk1"/>
                </a:solidFill>
              </a:rPr>
              <a:t> da </a:t>
            </a:r>
            <a:r>
              <a:rPr lang="en-US" sz="2500" dirty="0" err="1">
                <a:solidFill>
                  <a:schemeClr val="dk1"/>
                </a:solidFill>
              </a:rPr>
              <a:t>cultura</a:t>
            </a:r>
            <a:r>
              <a:rPr lang="en-US" sz="2500" dirty="0">
                <a:solidFill>
                  <a:schemeClr val="dk1"/>
                </a:solidFill>
              </a:rPr>
              <a:t> da </a:t>
            </a:r>
            <a:r>
              <a:rPr lang="en-US" sz="2500" dirty="0" err="1">
                <a:solidFill>
                  <a:schemeClr val="dk1"/>
                </a:solidFill>
              </a:rPr>
              <a:t>melancia</a:t>
            </a:r>
            <a:r>
              <a:rPr lang="en-US" sz="2500" dirty="0">
                <a:solidFill>
                  <a:schemeClr val="dk1"/>
                </a:solidFill>
              </a:rPr>
              <a:t> para </a:t>
            </a:r>
            <a:r>
              <a:rPr lang="en-US" sz="2500" dirty="0" err="1">
                <a:solidFill>
                  <a:schemeClr val="dk1"/>
                </a:solidFill>
              </a:rPr>
              <a:t>os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agricultores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familiares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na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região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norte</a:t>
            </a:r>
            <a:r>
              <a:rPr lang="en-US" sz="2500" dirty="0">
                <a:solidFill>
                  <a:schemeClr val="dk1"/>
                </a:solidFill>
              </a:rPr>
              <a:t> e </a:t>
            </a:r>
            <a:r>
              <a:rPr lang="en-US" sz="2500" dirty="0" err="1">
                <a:solidFill>
                  <a:schemeClr val="dk1"/>
                </a:solidFill>
              </a:rPr>
              <a:t>noroeste</a:t>
            </a:r>
            <a:r>
              <a:rPr lang="en-US" sz="2500" dirty="0">
                <a:solidFill>
                  <a:schemeClr val="dk1"/>
                </a:solidFill>
              </a:rPr>
              <a:t> do Estado do Espírito Santo, tanto no </a:t>
            </a:r>
            <a:r>
              <a:rPr lang="en-US" sz="2500" dirty="0" err="1">
                <a:solidFill>
                  <a:schemeClr val="dk1"/>
                </a:solidFill>
              </a:rPr>
              <a:t>aproveitamento</a:t>
            </a:r>
            <a:r>
              <a:rPr lang="en-US" sz="2500" dirty="0">
                <a:solidFill>
                  <a:schemeClr val="dk1"/>
                </a:solidFill>
              </a:rPr>
              <a:t> da gleba de terra, </a:t>
            </a:r>
            <a:r>
              <a:rPr lang="en-US" sz="2500" dirty="0" err="1">
                <a:solidFill>
                  <a:schemeClr val="dk1"/>
                </a:solidFill>
              </a:rPr>
              <a:t>enquanto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na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formação</a:t>
            </a:r>
            <a:r>
              <a:rPr lang="en-US" sz="2500" dirty="0">
                <a:solidFill>
                  <a:schemeClr val="dk1"/>
                </a:solidFill>
              </a:rPr>
              <a:t> de </a:t>
            </a:r>
            <a:r>
              <a:rPr lang="en-US" sz="2500" dirty="0" err="1">
                <a:solidFill>
                  <a:schemeClr val="dk1"/>
                </a:solidFill>
              </a:rPr>
              <a:t>novas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lavouras</a:t>
            </a:r>
            <a:r>
              <a:rPr lang="en-US" sz="2500" dirty="0">
                <a:solidFill>
                  <a:schemeClr val="dk1"/>
                </a:solidFill>
              </a:rPr>
              <a:t> de café </a:t>
            </a:r>
            <a:r>
              <a:rPr lang="en-US" sz="2500" dirty="0" err="1">
                <a:solidFill>
                  <a:schemeClr val="dk1"/>
                </a:solidFill>
              </a:rPr>
              <a:t>como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também</a:t>
            </a:r>
            <a:r>
              <a:rPr lang="en-US" sz="2500" dirty="0">
                <a:solidFill>
                  <a:schemeClr val="dk1"/>
                </a:solidFill>
              </a:rPr>
              <a:t> o </a:t>
            </a:r>
            <a:r>
              <a:rPr lang="en-US" sz="2500" dirty="0" err="1">
                <a:solidFill>
                  <a:schemeClr val="dk1"/>
                </a:solidFill>
              </a:rPr>
              <a:t>aproveitamento</a:t>
            </a:r>
            <a:r>
              <a:rPr lang="en-US" sz="2500" dirty="0">
                <a:solidFill>
                  <a:schemeClr val="dk1"/>
                </a:solidFill>
              </a:rPr>
              <a:t> da </a:t>
            </a:r>
            <a:r>
              <a:rPr lang="en-US" sz="2500" dirty="0" err="1">
                <a:solidFill>
                  <a:schemeClr val="dk1"/>
                </a:solidFill>
              </a:rPr>
              <a:t>diversificação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desta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cultura</a:t>
            </a:r>
            <a:r>
              <a:rPr lang="en-US" sz="2500" dirty="0">
                <a:solidFill>
                  <a:schemeClr val="dk1"/>
                </a:solidFill>
              </a:rPr>
              <a:t>, que </a:t>
            </a:r>
            <a:r>
              <a:rPr lang="en-US" sz="2500" dirty="0" err="1">
                <a:solidFill>
                  <a:schemeClr val="dk1"/>
                </a:solidFill>
              </a:rPr>
              <a:t>até</a:t>
            </a:r>
            <a:r>
              <a:rPr lang="en-US" sz="2500" dirty="0">
                <a:solidFill>
                  <a:schemeClr val="dk1"/>
                </a:solidFill>
              </a:rPr>
              <a:t> o </a:t>
            </a:r>
            <a:r>
              <a:rPr lang="en-US" sz="2500" dirty="0" err="1">
                <a:solidFill>
                  <a:schemeClr val="dk1"/>
                </a:solidFill>
              </a:rPr>
              <a:t>ano</a:t>
            </a:r>
            <a:r>
              <a:rPr lang="en-US" sz="2500" dirty="0">
                <a:solidFill>
                  <a:schemeClr val="dk1"/>
                </a:solidFill>
              </a:rPr>
              <a:t> de 2000 </a:t>
            </a:r>
            <a:r>
              <a:rPr lang="en-US" sz="2500" dirty="0" err="1">
                <a:solidFill>
                  <a:schemeClr val="dk1"/>
                </a:solidFill>
              </a:rPr>
              <a:t>não</a:t>
            </a:r>
            <a:r>
              <a:rPr lang="en-US" sz="2500" dirty="0">
                <a:solidFill>
                  <a:schemeClr val="dk1"/>
                </a:solidFill>
              </a:rPr>
              <a:t> era </a:t>
            </a:r>
            <a:r>
              <a:rPr lang="en-US" sz="2500" dirty="0" err="1">
                <a:solidFill>
                  <a:schemeClr val="dk1"/>
                </a:solidFill>
              </a:rPr>
              <a:t>produzida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comercialmente</a:t>
            </a:r>
            <a:r>
              <a:rPr lang="en-US" sz="2500" dirty="0">
                <a:solidFill>
                  <a:schemeClr val="dk1"/>
                </a:solidFill>
              </a:rPr>
              <a:t> no Espírito Santo.</a:t>
            </a:r>
            <a:endParaRPr sz="25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5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dirty="0">
                <a:solidFill>
                  <a:schemeClr val="dk1"/>
                </a:solidFill>
              </a:rPr>
              <a:t>	O </a:t>
            </a:r>
            <a:r>
              <a:rPr lang="en-US" sz="2500" dirty="0" err="1">
                <a:solidFill>
                  <a:schemeClr val="dk1"/>
                </a:solidFill>
              </a:rPr>
              <a:t>objetivo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deste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artigo</a:t>
            </a:r>
            <a:r>
              <a:rPr lang="en-US" sz="2500" dirty="0">
                <a:solidFill>
                  <a:schemeClr val="dk1"/>
                </a:solidFill>
              </a:rPr>
              <a:t> é </a:t>
            </a:r>
            <a:r>
              <a:rPr lang="en-US" sz="2500" dirty="0" err="1">
                <a:solidFill>
                  <a:schemeClr val="dk1"/>
                </a:solidFill>
              </a:rPr>
              <a:t>avaliar</a:t>
            </a:r>
            <a:r>
              <a:rPr lang="en-US" sz="2500" dirty="0">
                <a:solidFill>
                  <a:schemeClr val="dk1"/>
                </a:solidFill>
              </a:rPr>
              <a:t> a </a:t>
            </a:r>
            <a:r>
              <a:rPr lang="en-US" sz="2500" dirty="0" err="1">
                <a:solidFill>
                  <a:schemeClr val="dk1"/>
                </a:solidFill>
              </a:rPr>
              <a:t>importância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econômica</a:t>
            </a:r>
            <a:r>
              <a:rPr lang="en-US" sz="2500" dirty="0">
                <a:solidFill>
                  <a:schemeClr val="dk1"/>
                </a:solidFill>
              </a:rPr>
              <a:t> e social da </a:t>
            </a:r>
            <a:r>
              <a:rPr lang="en-US" sz="2500" dirty="0" err="1">
                <a:solidFill>
                  <a:schemeClr val="dk1"/>
                </a:solidFill>
              </a:rPr>
              <a:t>introdução</a:t>
            </a:r>
            <a:r>
              <a:rPr lang="en-US" sz="2500" dirty="0">
                <a:solidFill>
                  <a:schemeClr val="dk1"/>
                </a:solidFill>
              </a:rPr>
              <a:t> da </a:t>
            </a:r>
            <a:r>
              <a:rPr lang="en-US" sz="2500" dirty="0" err="1">
                <a:solidFill>
                  <a:schemeClr val="dk1"/>
                </a:solidFill>
              </a:rPr>
              <a:t>cultura</a:t>
            </a:r>
            <a:r>
              <a:rPr lang="en-US" sz="2500" dirty="0">
                <a:solidFill>
                  <a:schemeClr val="dk1"/>
                </a:solidFill>
              </a:rPr>
              <a:t> da </a:t>
            </a:r>
            <a:r>
              <a:rPr lang="en-US" sz="2500" dirty="0" err="1">
                <a:solidFill>
                  <a:schemeClr val="dk1"/>
                </a:solidFill>
              </a:rPr>
              <a:t>melancia</a:t>
            </a:r>
            <a:r>
              <a:rPr lang="en-US" sz="2500" dirty="0">
                <a:solidFill>
                  <a:schemeClr val="dk1"/>
                </a:solidFill>
              </a:rPr>
              <a:t> para </a:t>
            </a:r>
            <a:r>
              <a:rPr lang="en-US" sz="2500" dirty="0" err="1">
                <a:solidFill>
                  <a:schemeClr val="dk1"/>
                </a:solidFill>
              </a:rPr>
              <a:t>os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agricultores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familiares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na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região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norte</a:t>
            </a:r>
            <a:r>
              <a:rPr lang="en-US" sz="2500" dirty="0">
                <a:solidFill>
                  <a:schemeClr val="dk1"/>
                </a:solidFill>
              </a:rPr>
              <a:t> e </a:t>
            </a:r>
            <a:r>
              <a:rPr lang="en-US" sz="2500" dirty="0" err="1">
                <a:solidFill>
                  <a:schemeClr val="dk1"/>
                </a:solidFill>
              </a:rPr>
              <a:t>noroeste</a:t>
            </a:r>
            <a:r>
              <a:rPr lang="en-US" sz="2500" dirty="0">
                <a:solidFill>
                  <a:schemeClr val="dk1"/>
                </a:solidFill>
              </a:rPr>
              <a:t> do Estado do Espírito Santo, tanto no </a:t>
            </a:r>
            <a:r>
              <a:rPr lang="en-US" sz="2500" dirty="0" err="1">
                <a:solidFill>
                  <a:schemeClr val="dk1"/>
                </a:solidFill>
              </a:rPr>
              <a:t>aproveitamento</a:t>
            </a:r>
            <a:r>
              <a:rPr lang="en-US" sz="2500" dirty="0">
                <a:solidFill>
                  <a:schemeClr val="dk1"/>
                </a:solidFill>
              </a:rPr>
              <a:t> da gleba de terra, </a:t>
            </a:r>
            <a:r>
              <a:rPr lang="en-US" sz="2500" dirty="0" err="1">
                <a:solidFill>
                  <a:schemeClr val="dk1"/>
                </a:solidFill>
              </a:rPr>
              <a:t>enquanto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na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formação</a:t>
            </a:r>
            <a:r>
              <a:rPr lang="en-US" sz="2500" dirty="0">
                <a:solidFill>
                  <a:schemeClr val="dk1"/>
                </a:solidFill>
              </a:rPr>
              <a:t> de </a:t>
            </a:r>
            <a:r>
              <a:rPr lang="en-US" sz="2500" dirty="0" err="1">
                <a:solidFill>
                  <a:schemeClr val="dk1"/>
                </a:solidFill>
              </a:rPr>
              <a:t>novas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lavouras</a:t>
            </a:r>
            <a:r>
              <a:rPr lang="en-US" sz="2500" dirty="0">
                <a:solidFill>
                  <a:schemeClr val="dk1"/>
                </a:solidFill>
              </a:rPr>
              <a:t> de café </a:t>
            </a:r>
            <a:r>
              <a:rPr lang="en-US" sz="2500" dirty="0" err="1">
                <a:solidFill>
                  <a:schemeClr val="dk1"/>
                </a:solidFill>
              </a:rPr>
              <a:t>como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também</a:t>
            </a:r>
            <a:r>
              <a:rPr lang="en-US" sz="2500" dirty="0">
                <a:solidFill>
                  <a:schemeClr val="dk1"/>
                </a:solidFill>
              </a:rPr>
              <a:t> o </a:t>
            </a:r>
            <a:r>
              <a:rPr lang="en-US" sz="2500" dirty="0" err="1">
                <a:solidFill>
                  <a:schemeClr val="dk1"/>
                </a:solidFill>
              </a:rPr>
              <a:t>aproveitamento</a:t>
            </a:r>
            <a:r>
              <a:rPr lang="en-US" sz="2500" dirty="0">
                <a:solidFill>
                  <a:schemeClr val="dk1"/>
                </a:solidFill>
              </a:rPr>
              <a:t> da </a:t>
            </a:r>
            <a:r>
              <a:rPr lang="en-US" sz="2500" dirty="0" err="1">
                <a:solidFill>
                  <a:schemeClr val="dk1"/>
                </a:solidFill>
              </a:rPr>
              <a:t>diversificação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desta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cultura</a:t>
            </a:r>
            <a:r>
              <a:rPr lang="en-US" sz="2500" dirty="0">
                <a:solidFill>
                  <a:schemeClr val="dk1"/>
                </a:solidFill>
              </a:rPr>
              <a:t>, que </a:t>
            </a:r>
            <a:r>
              <a:rPr lang="en-US" sz="2500" dirty="0" err="1">
                <a:solidFill>
                  <a:schemeClr val="dk1"/>
                </a:solidFill>
              </a:rPr>
              <a:t>até</a:t>
            </a:r>
            <a:r>
              <a:rPr lang="en-US" sz="2500" dirty="0">
                <a:solidFill>
                  <a:schemeClr val="dk1"/>
                </a:solidFill>
              </a:rPr>
              <a:t> o </a:t>
            </a:r>
            <a:r>
              <a:rPr lang="en-US" sz="2500" dirty="0" err="1">
                <a:solidFill>
                  <a:schemeClr val="dk1"/>
                </a:solidFill>
              </a:rPr>
              <a:t>ano</a:t>
            </a:r>
            <a:r>
              <a:rPr lang="en-US" sz="2500" dirty="0">
                <a:solidFill>
                  <a:schemeClr val="dk1"/>
                </a:solidFill>
              </a:rPr>
              <a:t> de 2000 </a:t>
            </a:r>
            <a:r>
              <a:rPr lang="en-US" sz="2500" dirty="0" err="1">
                <a:solidFill>
                  <a:schemeClr val="dk1"/>
                </a:solidFill>
              </a:rPr>
              <a:t>não</a:t>
            </a:r>
            <a:r>
              <a:rPr lang="en-US" sz="2500" dirty="0">
                <a:solidFill>
                  <a:schemeClr val="dk1"/>
                </a:solidFill>
              </a:rPr>
              <a:t> era </a:t>
            </a:r>
            <a:r>
              <a:rPr lang="en-US" sz="2500" dirty="0" err="1">
                <a:solidFill>
                  <a:schemeClr val="dk1"/>
                </a:solidFill>
              </a:rPr>
              <a:t>produzida</a:t>
            </a:r>
            <a:r>
              <a:rPr lang="en-US" sz="2500" dirty="0">
                <a:solidFill>
                  <a:schemeClr val="dk1"/>
                </a:solidFill>
              </a:rPr>
              <a:t> </a:t>
            </a:r>
            <a:r>
              <a:rPr lang="en-US" sz="2500" dirty="0" err="1">
                <a:solidFill>
                  <a:schemeClr val="dk1"/>
                </a:solidFill>
              </a:rPr>
              <a:t>comercialmente</a:t>
            </a:r>
            <a:r>
              <a:rPr lang="en-US" sz="2500" dirty="0">
                <a:solidFill>
                  <a:schemeClr val="dk1"/>
                </a:solidFill>
              </a:rPr>
              <a:t> no Espírito Santo.</a:t>
            </a:r>
            <a:endParaRPr sz="25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500" dirty="0">
              <a:solidFill>
                <a:schemeClr val="dk1"/>
              </a:solidFill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5633700" y="9161462"/>
            <a:ext cx="11390312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7050" rIns="90475" bIns="470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Verdana"/>
              <a:buNone/>
            </a:pPr>
            <a:r>
              <a:rPr lang="en-US" sz="3900" b="1" i="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RESULTADOS E DISCUSSÕES 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15292387" y="9944100"/>
            <a:ext cx="11042650" cy="10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7050" rIns="90475" bIns="47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A melancia comercializada na Ceasa de Cariacica é importada de outros estados.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Segundo a Ceasa-ES a Bahia participa, em média, com 70% do total comercializado, seguida de São Paulo e Rio Grande do Sul. O Espírito Santo também contribui com cerca de 7% (CEASA-ES-2010).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Como podemos ver, existe uma possibilidade de acréscimo na produção em 93%, só para o consumo do que foi comercializado CEASA-ES, no ano de 2.010.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Tomaremos como base o município de Marilândia, um dos maiores produtores da fruta na região, para fazermos uma discursão sobre a viabilidade de ampliar a cultura em parte das áreas em que o café é renovado a cada ano.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Todos os municípios da região tem o café na maioria das propriedades e com a evolução das pesquisas é renovados a cada ano pelo menos um percentual de cinco por cento.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Segundo informações do Escritório Local do Incaper de Marilândia, o município produz mais de dois milhões de mudas de café a cada ano e a renovação do café é de aproximadamente 8 a 10% a cada ano.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Como podemos avaliar, a região tem um alto potencial e, se a renovação de lavoura de café, ocorrer a um índice de 5% ao ano, a região teria disponível quase 4.000 hectares para fazer de plantio de melancia e hoje estamos aproveitando apenas 0,2% da área em que se renova café na região avaliada.</a:t>
            </a:r>
            <a:endParaRPr sz="96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5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5289212" y="19662775"/>
            <a:ext cx="11391900" cy="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7050" rIns="90475" bIns="470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Verdana"/>
              <a:buNone/>
            </a:pPr>
            <a:r>
              <a:rPr lang="en-US" sz="3900" b="1">
                <a:latin typeface="Verdana"/>
                <a:ea typeface="Verdana"/>
                <a:cs typeface="Verdana"/>
                <a:sym typeface="Verdana"/>
              </a:rPr>
              <a:t>CONSIDERAÇOES FINAIS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15290800" y="25465087"/>
            <a:ext cx="11390312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7050" rIns="90475" bIns="470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Verdana"/>
              <a:buNone/>
            </a:pPr>
            <a:r>
              <a:rPr lang="en-US" sz="3900" b="1" i="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REFERÊNCIAS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15289212" y="26206450"/>
            <a:ext cx="11688762" cy="7513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7050" rIns="90475" bIns="47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ARAUJO, José Pires. </a:t>
            </a:r>
            <a:r>
              <a:rPr lang="en-US" sz="25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cultura da melancia. </a:t>
            </a: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Comunicado Técnico nº 35. Embrapa. Petrolina-Pe. 1989. 9p 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CEAGESP, Programa Brasileiro para a modernização da horticultura. </a:t>
            </a:r>
            <a:r>
              <a:rPr lang="en-US" sz="25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Melancia, normas de classificação. </a:t>
            </a: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V.9. nº 2. 2011.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http://www.incaper.es.gov.br/?a=noticias/2010/marco/noticias_26_03_2010_2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SOUZA, Flavio de França, et.al. </a:t>
            </a:r>
            <a:r>
              <a:rPr lang="en-US" sz="25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Cultivo da melancia em Rondônia.  </a:t>
            </a: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1ª Edição. Embrapa Rondônia. Porto Velho-Ro. 2008. 110p.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FEIJÓ, Ricardo Luiz Chaves.</a:t>
            </a:r>
            <a:r>
              <a:rPr lang="en-US" sz="25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Economia Agrícola e Desenvolvimento Rural.</a:t>
            </a: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Rio de Janeiro, 2011. 362pag.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ORTEGA, Antonio Cesar e Niemeyer. Desenvolvimento Territorial, Segurança Alimentar e Economia Solidária. Campinas, SP. Editora Alínea 332 pag.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Pellegrino, Anderson Cesar Gomes Teixeira.</a:t>
            </a:r>
            <a:r>
              <a:rPr lang="en-US" sz="25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Nas Sombras do Desenvolvimento e a Problemática Regional do Brasil.</a:t>
            </a: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Campinas-SP. Editora Alínea, 2005. 184pag.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INCAPER-Instituto Capixaba de Pesquisa, Assistência Técnica e Extensão Rural-Escritórios Locais de Marilandia, Pancas, Ecoporanga, Agua Doce do Norte, Vila Pavão, Alto Rio Novo, São Roque do Canaã, Colatina, Governador Lindenberg, Rio Bananal e Linhares. 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5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496887" y="398462"/>
            <a:ext cx="22467900" cy="31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75" tIns="40525" rIns="81075" bIns="405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Verdana"/>
              <a:buNone/>
            </a:pPr>
            <a:r>
              <a:rPr lang="en-US" sz="5300" b="1" i="0" u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SEMINÁRIO DE</a:t>
            </a:r>
            <a:r>
              <a:rPr lang="en-US" sz="53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LOGÍSTICA</a:t>
            </a:r>
            <a:r>
              <a:rPr lang="en-US" sz="5300" b="1" i="0" u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Verdana"/>
              <a:buNone/>
            </a:pPr>
            <a:r>
              <a:rPr lang="en-US" sz="5300" b="1" i="0" u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                          IFES CAMPUS </a:t>
            </a:r>
            <a:r>
              <a:rPr lang="en-US" sz="53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COLATINA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</a:pPr>
            <a:endParaRPr sz="5300" b="1" i="0" u="none" dirty="0">
              <a:solidFill>
                <a:srgbClr val="0099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Verdana"/>
              <a:buNone/>
            </a:pPr>
            <a:r>
              <a:rPr lang="en-US" sz="4300" b="1" i="0" u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                      TEMA: </a:t>
            </a:r>
            <a:r>
              <a:rPr lang="en-US" sz="4300" b="1" i="0" u="none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Desafios</a:t>
            </a:r>
            <a:r>
              <a:rPr lang="en-US" sz="4300" b="1" i="0" u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e </a:t>
            </a:r>
            <a:r>
              <a:rPr lang="en-US" sz="4300" b="1" i="0" u="none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oportunidades</a:t>
            </a:r>
            <a:r>
              <a:rPr lang="en-US" sz="4300" b="1" i="0" u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da </a:t>
            </a:r>
            <a:r>
              <a:rPr lang="en-US" sz="4300" b="1" i="0" u="none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operações</a:t>
            </a:r>
            <a:r>
              <a:rPr lang="en-US" sz="4300" b="1" i="0" u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4300" b="1" i="0" u="none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logísticas</a:t>
            </a:r>
            <a:r>
              <a:rPr lang="en-US" sz="4300" b="1" i="0" u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dirty="0"/>
          </a:p>
        </p:txBody>
      </p:sp>
      <p:sp>
        <p:nvSpPr>
          <p:cNvPr id="106" name="Google Shape;106;p1"/>
          <p:cNvSpPr txBox="1"/>
          <p:nvPr/>
        </p:nvSpPr>
        <p:spPr>
          <a:xfrm>
            <a:off x="21045487" y="35020250"/>
            <a:ext cx="215741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25" tIns="45950" rIns="91925" bIns="459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Verdana"/>
              <a:buNone/>
            </a:pPr>
            <a:r>
              <a:rPr lang="en-US" sz="2000" b="1" i="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Realização</a:t>
            </a:r>
            <a:endParaRPr/>
          </a:p>
        </p:txBody>
      </p:sp>
      <p:cxnSp>
        <p:nvCxnSpPr>
          <p:cNvPr id="107" name="Google Shape;107;p1"/>
          <p:cNvCxnSpPr/>
          <p:nvPr/>
        </p:nvCxnSpPr>
        <p:spPr>
          <a:xfrm>
            <a:off x="0" y="4062412"/>
            <a:ext cx="22625050" cy="0"/>
          </a:xfrm>
          <a:prstGeom prst="straightConnector1">
            <a:avLst/>
          </a:prstGeom>
          <a:noFill/>
          <a:ln w="152400" cap="flat" cmpd="sng">
            <a:solidFill>
              <a:srgbClr val="009900"/>
            </a:solidFill>
            <a:prstDash val="solid"/>
            <a:miter lim="800000"/>
            <a:headEnd type="none" w="med" len="med"/>
            <a:tailEnd type="none" w="med" len="med"/>
          </a:ln>
        </p:spPr>
      </p:cxnSp>
      <p:pic>
        <p:nvPicPr>
          <p:cNvPr id="108" name="Google Shape;108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846589" y="1260475"/>
            <a:ext cx="4631573" cy="2465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169562" y="33869312"/>
            <a:ext cx="2898775" cy="152241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"/>
          <p:cNvSpPr txBox="1"/>
          <p:nvPr/>
        </p:nvSpPr>
        <p:spPr>
          <a:xfrm>
            <a:off x="15367000" y="20789900"/>
            <a:ext cx="11042650" cy="423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7050" rIns="90475" bIns="4705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Diante de todos os dados apresentados neste trabalho Consideramos que as oportunidades aos agricultores são vantajosas, pois além do aproveitamento de área com consórcio de culturas, temos ainda a oportunidade de aumento de renda por área, haveria uma melhor qualidade de vida, trazendo mais uma atividade com potencial de melhoria e aproveitamento da mão de obra no campo.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A melancia é uma oportunidade de negócio, que apesar de ser uma cultura perecível após colheita, como a maioria das frutas, ela apresenta a vantagem, que mesmo em preço baixo o lucro é garantido, desde que se tenha produtividade, pois sua produtividade é excelente desde que, bem manejada.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5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1154</Words>
  <Application>Microsoft Office PowerPoint</Application>
  <PresentationFormat>Personalizar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Verdana</vt:lpstr>
      <vt:lpstr>Design padrão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MET1</dc:creator>
  <cp:lastModifiedBy>José Claudio Valbuza</cp:lastModifiedBy>
  <cp:revision>1</cp:revision>
  <dcterms:created xsi:type="dcterms:W3CDTF">2010-05-03T11:44:14Z</dcterms:created>
  <dcterms:modified xsi:type="dcterms:W3CDTF">2026-06-10T18:33:14Z</dcterms:modified>
</cp:coreProperties>
</file>